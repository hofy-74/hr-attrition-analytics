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70" r:id="rId2"/>
    <p:sldId id="256" r:id="rId3"/>
    <p:sldId id="266" r:id="rId4"/>
    <p:sldId id="258" r:id="rId5"/>
    <p:sldId id="267" r:id="rId6"/>
    <p:sldId id="268" r:id="rId7"/>
    <p:sldId id="269" r:id="rId8"/>
    <p:sldId id="260" r:id="rId9"/>
    <p:sldId id="261" r:id="rId10"/>
    <p:sldId id="262" r:id="rId11"/>
    <p:sldId id="263" r:id="rId12"/>
    <p:sldId id="265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65A8"/>
    <a:srgbClr val="718DA8"/>
    <a:srgbClr val="071828"/>
    <a:srgbClr val="22405C"/>
    <a:srgbClr val="247DD1"/>
    <a:srgbClr val="CBE1F5"/>
    <a:srgbClr val="51718F"/>
    <a:srgbClr val="95ACC2"/>
    <a:srgbClr val="00B4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58" y="89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8899AA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8899AA"/>
                </a:solidFill>
                <a:latin typeface="Arial"/>
              </a:rPr>
              <a:t>Attrition Rate by Job Role (%)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Rate</c:v>
                </c:pt>
              </c:strCache>
            </c:strRef>
          </c:tx>
          <c:spPr>
            <a:solidFill>
              <a:srgbClr val="22405C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22405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62A-40F6-833D-6C1E159E3415}"/>
              </c:ext>
            </c:extLst>
          </c:dPt>
          <c:dPt>
            <c:idx val="1"/>
            <c:invertIfNegative val="0"/>
            <c:bubble3D val="0"/>
            <c:spPr>
              <a:solidFill>
                <a:srgbClr val="22405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62A-40F6-833D-6C1E159E3415}"/>
              </c:ext>
            </c:extLst>
          </c:dPt>
          <c:dPt>
            <c:idx val="2"/>
            <c:invertIfNegative val="0"/>
            <c:bubble3D val="0"/>
            <c:spPr>
              <a:solidFill>
                <a:srgbClr val="51718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62A-40F6-833D-6C1E159E3415}"/>
              </c:ext>
            </c:extLst>
          </c:dPt>
          <c:dPt>
            <c:idx val="3"/>
            <c:invertIfNegative val="0"/>
            <c:bubble3D val="0"/>
            <c:spPr>
              <a:solidFill>
                <a:srgbClr val="95ACC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362A-40F6-833D-6C1E159E3415}"/>
              </c:ext>
            </c:extLst>
          </c:dPt>
          <c:dPt>
            <c:idx val="4"/>
            <c:invertIfNegative val="0"/>
            <c:bubble3D val="0"/>
            <c:spPr>
              <a:solidFill>
                <a:srgbClr val="95ACC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362A-40F6-833D-6C1E159E3415}"/>
              </c:ext>
            </c:extLst>
          </c:dPt>
          <c:dPt>
            <c:idx val="5"/>
            <c:invertIfNegative val="0"/>
            <c:bubble3D val="0"/>
            <c:spPr>
              <a:solidFill>
                <a:srgbClr val="CBE1F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362A-40F6-833D-6C1E159E3415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Sales Rep</c:v>
                </c:pt>
                <c:pt idx="1">
                  <c:v>Lab Technician</c:v>
                </c:pt>
                <c:pt idx="2">
                  <c:v>Human Resources</c:v>
                </c:pt>
                <c:pt idx="3">
                  <c:v>Sales Executive</c:v>
                </c:pt>
                <c:pt idx="4">
                  <c:v>Research Scientist</c:v>
                </c:pt>
                <c:pt idx="5">
                  <c:v>Manager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39.799999999999997</c:v>
                </c:pt>
                <c:pt idx="1">
                  <c:v>23.9</c:v>
                </c:pt>
                <c:pt idx="2">
                  <c:v>23.1</c:v>
                </c:pt>
                <c:pt idx="3">
                  <c:v>17.5</c:v>
                </c:pt>
                <c:pt idx="4">
                  <c:v>16.100000000000001</c:v>
                </c:pt>
                <c:pt idx="5">
                  <c:v>4.9000000000000004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362A-40F6-833D-6C1E159E341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8EEF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0"/>
        </c:scaling>
        <c:delete val="0"/>
        <c:axPos val="b"/>
        <c:majorGridlines>
          <c:spPr>
            <a:ln w="6350" cap="flat">
              <a:solidFill>
                <a:srgbClr val="1E406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9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32D4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8899AA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8899AA"/>
                </a:solidFill>
                <a:latin typeface="Arial"/>
              </a:rPr>
              <a:t>HP/Low Pay: Count vs Attrition % by Role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00B4D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Research Scientist</c:v>
                </c:pt>
                <c:pt idx="1">
                  <c:v>Lab Technician</c:v>
                </c:pt>
                <c:pt idx="2">
                  <c:v>Sales Rep</c:v>
                </c:pt>
                <c:pt idx="3">
                  <c:v>Sales Executive</c:v>
                </c:pt>
                <c:pt idx="4">
                  <c:v>HR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46</c:v>
                </c:pt>
                <c:pt idx="1">
                  <c:v>40</c:v>
                </c:pt>
                <c:pt idx="2">
                  <c:v>11</c:v>
                </c:pt>
                <c:pt idx="3">
                  <c:v>12</c:v>
                </c:pt>
                <c:pt idx="4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E04-4F33-B049-0DBB8FCFFF5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Attrition %</c:v>
                </c:pt>
              </c:strCache>
            </c:strRef>
          </c:tx>
          <c:spPr>
            <a:solidFill>
              <a:srgbClr val="1D65A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Research Scientist</c:v>
                </c:pt>
                <c:pt idx="1">
                  <c:v>Lab Technician</c:v>
                </c:pt>
                <c:pt idx="2">
                  <c:v>Sales Rep</c:v>
                </c:pt>
                <c:pt idx="3">
                  <c:v>Sales Executive</c:v>
                </c:pt>
                <c:pt idx="4">
                  <c:v>HR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26.1</c:v>
                </c:pt>
                <c:pt idx="1">
                  <c:v>30</c:v>
                </c:pt>
                <c:pt idx="2">
                  <c:v>36.4</c:v>
                </c:pt>
                <c:pt idx="3">
                  <c:v>16.7</c:v>
                </c:pt>
                <c:pt idx="4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E04-4F33-B049-0DBB8FCFFF5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8EEF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E406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9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8899AA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32D4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11864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118E6-5D7B-FA55-E219-EBA9D79E2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DFF04D-955C-1B7B-2F16-444F3D8A32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37B76D-D13B-29DA-25CE-9990D4A774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847A50-2925-4CF8-D5B4-7C73D81CF0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2371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with the number. No preamble. 237 people left. Let that land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B4BD98-1129-23B3-696D-E1D5FA19C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93EFE6-792F-6035-3FFA-AFF3F5171A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96B7EE-E26B-68C8-3502-28035D5E0F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$23.6K is benchmark-based and honest. State the source clearly. Do not invent program costs or savings projections.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C0A144-BA26-D4FA-4179-077A787D4C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0442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CDBF2-B37A-70D3-4CA6-2BD9F8E58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FF9334-EE2B-4ED6-EB34-09B5D4AA31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F4C28B-EEEA-9919-1A37-3D018F9E14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284C9C-5B1E-489A-A8E7-9DB70F7D41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1924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097DC-1ED4-35AA-338F-6B37E8B07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A89211-AC75-6C39-9D26-4FE5CC0D98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C26A20-6036-AB92-90E5-BF9F082BC7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F83511-8F5A-2155-9003-AB1DE8026D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7770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05022-EFBE-9DB1-EFBB-4D617E09B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D64934-A4E4-0B99-66A6-ADE8FA4C7A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E78815-90F5-3AB9-021A-B9A38DC493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573124-7670-8B9A-E0D9-25B55F5632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3346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D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50978E-560F-D807-8F17-B33F77DAC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9E87A2C-8E33-A188-B3F6-9D1AD77016B5}"/>
              </a:ext>
            </a:extLst>
          </p:cNvPr>
          <p:cNvSpPr/>
          <p:nvPr/>
        </p:nvSpPr>
        <p:spPr>
          <a:xfrm>
            <a:off x="6553200" y="-228600"/>
            <a:ext cx="5029200" cy="5029200"/>
          </a:xfrm>
          <a:prstGeom prst="ellipse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D960C8B-110E-F1E9-46C9-100DA3A6A243}"/>
              </a:ext>
            </a:extLst>
          </p:cNvPr>
          <p:cNvSpPr/>
          <p:nvPr/>
        </p:nvSpPr>
        <p:spPr>
          <a:xfrm>
            <a:off x="457200" y="502920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6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D5F6ABA-E915-706E-AA03-957BDCBEC4B3}"/>
              </a:ext>
            </a:extLst>
          </p:cNvPr>
          <p:cNvSpPr/>
          <p:nvPr/>
        </p:nvSpPr>
        <p:spPr>
          <a:xfrm>
            <a:off x="609600" y="611124"/>
            <a:ext cx="5943600" cy="2901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HR Analytics Dashboard</a:t>
            </a:r>
            <a:endParaRPr lang="en-US" sz="7200" dirty="0"/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2951071B-2BEE-FEDA-3D7B-1A63AD2CCF4D}"/>
              </a:ext>
            </a:extLst>
          </p:cNvPr>
          <p:cNvSpPr/>
          <p:nvPr/>
        </p:nvSpPr>
        <p:spPr>
          <a:xfrm>
            <a:off x="7375398" y="3850005"/>
            <a:ext cx="2011680" cy="2011680"/>
          </a:xfrm>
          <a:prstGeom prst="ellipse">
            <a:avLst/>
          </a:prstGeom>
          <a:solidFill>
            <a:srgbClr val="071828"/>
          </a:solidFill>
          <a:ln w="12700">
            <a:solidFill>
              <a:srgbClr val="071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C508EA08-72A6-22AB-4ABE-9C64DD6B07FA}"/>
              </a:ext>
            </a:extLst>
          </p:cNvPr>
          <p:cNvSpPr/>
          <p:nvPr/>
        </p:nvSpPr>
        <p:spPr>
          <a:xfrm>
            <a:off x="150876" y="3787140"/>
            <a:ext cx="5029200" cy="1295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600" b="1" dirty="0">
                <a:solidFill>
                  <a:srgbClr val="718DA8"/>
                </a:solidFill>
                <a:latin typeface="Calibri" pitchFamily="34" charset="0"/>
                <a:cs typeface="Calibri" pitchFamily="34" charset="-120"/>
              </a:rPr>
              <a:t>Created By :</a:t>
            </a:r>
          </a:p>
          <a:p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Ahmed El Hofy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28448631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10984" y="-1320546"/>
            <a:ext cx="5029200" cy="5029200"/>
          </a:xfrm>
          <a:prstGeom prst="ellipse">
            <a:avLst/>
          </a:prstGeom>
          <a:solidFill>
            <a:srgbClr val="0D2840"/>
          </a:solidFill>
          <a:ln w="12700">
            <a:solidFill>
              <a:srgbClr val="0D284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7874508" y="3164205"/>
            <a:ext cx="2011680" cy="2011680"/>
          </a:xfrm>
          <a:prstGeom prst="ellipse">
            <a:avLst/>
          </a:prstGeom>
          <a:solidFill>
            <a:srgbClr val="071828"/>
          </a:solidFill>
          <a:ln w="12700">
            <a:solidFill>
              <a:srgbClr val="071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52400" y="228600"/>
            <a:ext cx="2670047" cy="313944"/>
          </a:xfrm>
          <a:prstGeom prst="roundRect">
            <a:avLst>
              <a:gd name="adj" fmla="val 14815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52401" y="228600"/>
            <a:ext cx="2670048" cy="3459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HR Analytics using Powe BI  </a:t>
            </a:r>
          </a:p>
        </p:txBody>
      </p:sp>
      <p:sp>
        <p:nvSpPr>
          <p:cNvPr id="7" name="Text 5"/>
          <p:cNvSpPr/>
          <p:nvPr/>
        </p:nvSpPr>
        <p:spPr>
          <a:xfrm>
            <a:off x="333756" y="931164"/>
            <a:ext cx="6309360" cy="1423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I found an employee attrition dataset on Kaggle. and My goal was simple: uncover Why company keep losing people?</a:t>
            </a:r>
          </a:p>
        </p:txBody>
      </p:sp>
      <p:sp>
        <p:nvSpPr>
          <p:cNvPr id="8" name="Text 6"/>
          <p:cNvSpPr/>
          <p:nvPr/>
        </p:nvSpPr>
        <p:spPr>
          <a:xfrm>
            <a:off x="347472" y="2464308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500" b="1" dirty="0">
                <a:solidFill>
                  <a:srgbClr val="00B4D8"/>
                </a:solidFill>
                <a:latin typeface="Calibri" pitchFamily="34" charset="0"/>
                <a:cs typeface="Calibri" pitchFamily="34" charset="-120"/>
              </a:rPr>
              <a:t>Here's what I found.</a:t>
            </a:r>
          </a:p>
        </p:txBody>
      </p:sp>
      <p:sp>
        <p:nvSpPr>
          <p:cNvPr id="10" name="Shape 8"/>
          <p:cNvSpPr/>
          <p:nvPr/>
        </p:nvSpPr>
        <p:spPr>
          <a:xfrm>
            <a:off x="347472" y="3598164"/>
            <a:ext cx="8229600" cy="1115568"/>
          </a:xfrm>
          <a:prstGeom prst="rect">
            <a:avLst/>
          </a:prstGeom>
          <a:solidFill>
            <a:srgbClr val="0D2840"/>
          </a:solidFill>
          <a:ln w="6350">
            <a:solidFill>
              <a:srgbClr val="1E4060"/>
            </a:solidFill>
            <a:prstDash val="solid"/>
          </a:ln>
          <a:effectLst>
            <a:outerShdw blurRad="152400" dist="381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79" y="3758946"/>
            <a:ext cx="76992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A company with 1,470 employees was losing 237 people a year (16.1% attrition)  and had no idea why, or what it was actually costing them 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4334256"/>
            <a:ext cx="7772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C8D6E0"/>
                </a:solidFill>
                <a:latin typeface="Arial" pitchFamily="34" charset="0"/>
                <a:cs typeface="Arial" pitchFamily="34" charset="-120"/>
              </a:rPr>
              <a:t>This presentation explores the factors behind employee attrition, uncovers the key reasons employees leave, and provides data-driven recommendations to improve retention.</a:t>
            </a:r>
          </a:p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F7E1C6-EF5D-CBDE-BF9C-2C15F5145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1B12C3C-DD30-86F9-914A-D87A112B6299}"/>
              </a:ext>
            </a:extLst>
          </p:cNvPr>
          <p:cNvSpPr/>
          <p:nvPr/>
        </p:nvSpPr>
        <p:spPr>
          <a:xfrm>
            <a:off x="457200" y="152998"/>
            <a:ext cx="3291840" cy="295058"/>
          </a:xfrm>
          <a:prstGeom prst="roundRect">
            <a:avLst>
              <a:gd name="adj" fmla="val 14815"/>
            </a:avLst>
          </a:prstGeom>
          <a:solidFill>
            <a:srgbClr val="071828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5C26A52-87B6-B037-9EAE-311CB994D318}"/>
              </a:ext>
            </a:extLst>
          </p:cNvPr>
          <p:cNvSpPr/>
          <p:nvPr/>
        </p:nvSpPr>
        <p:spPr>
          <a:xfrm>
            <a:off x="457200" y="152998"/>
            <a:ext cx="3291840" cy="2950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COST : WHAT THE DATA SHOWS</a:t>
            </a:r>
            <a:endParaRPr lang="en-US" sz="9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26B02EE-840C-640B-6724-00028A3DACCE}"/>
              </a:ext>
            </a:extLst>
          </p:cNvPr>
          <p:cNvSpPr/>
          <p:nvPr/>
        </p:nvSpPr>
        <p:spPr>
          <a:xfrm>
            <a:off x="457200" y="763807"/>
            <a:ext cx="8229600" cy="7667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Every departure has a price. This analysis reveals the true cost of employee turnover.</a:t>
            </a:r>
          </a:p>
          <a:p>
            <a:pPr marL="0" indent="0">
              <a:buNone/>
            </a:pPr>
            <a:endParaRPr lang="en-US" sz="3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3402353-EF95-28B8-EF1D-8ED41E499535}"/>
              </a:ext>
            </a:extLst>
          </p:cNvPr>
          <p:cNvSpPr/>
          <p:nvPr/>
        </p:nvSpPr>
        <p:spPr>
          <a:xfrm>
            <a:off x="457200" y="1594403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Replacement cost benchmark: 75% of annual salary (SHRM industry standard). Applied to this dataset.</a:t>
            </a:r>
            <a:endParaRPr lang="en-US" sz="85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A7486930-B15E-C922-9335-1E7AB5802ECC}"/>
              </a:ext>
            </a:extLst>
          </p:cNvPr>
          <p:cNvSpPr/>
          <p:nvPr/>
        </p:nvSpPr>
        <p:spPr>
          <a:xfrm>
            <a:off x="457200" y="1882230"/>
            <a:ext cx="2651760" cy="1207008"/>
          </a:xfrm>
          <a:prstGeom prst="rect">
            <a:avLst/>
          </a:prstGeom>
          <a:solidFill>
            <a:srgbClr val="132D4F"/>
          </a:solidFill>
          <a:ln w="6350">
            <a:solidFill>
              <a:srgbClr val="1E4060"/>
            </a:solidFill>
            <a:prstDash val="solid"/>
          </a:ln>
          <a:effectLst>
            <a:outerShdw blurRad="152400" dist="381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3B7CD8E-2328-EB33-10B6-9D4DB1492D3C}"/>
              </a:ext>
            </a:extLst>
          </p:cNvPr>
          <p:cNvSpPr/>
          <p:nvPr/>
        </p:nvSpPr>
        <p:spPr>
          <a:xfrm>
            <a:off x="457200" y="1890119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237</a:t>
            </a:r>
            <a:endParaRPr lang="en-US" sz="3400" dirty="0">
              <a:solidFill>
                <a:srgbClr val="00B4D8"/>
              </a:solidFill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55164BB-4894-2E92-AE49-CE4BF7EAF2B2}"/>
              </a:ext>
            </a:extLst>
          </p:cNvPr>
          <p:cNvSpPr/>
          <p:nvPr/>
        </p:nvSpPr>
        <p:spPr>
          <a:xfrm>
            <a:off x="457200" y="2432304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Employees Left</a:t>
            </a:r>
            <a:endParaRPr lang="en-US" sz="11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C484BF6-8D29-2174-5804-093E57A56469}"/>
              </a:ext>
            </a:extLst>
          </p:cNvPr>
          <p:cNvSpPr/>
          <p:nvPr/>
        </p:nvSpPr>
        <p:spPr>
          <a:xfrm>
            <a:off x="457200" y="2740779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All Company</a:t>
            </a:r>
            <a:endParaRPr lang="en-US" sz="9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EF762A94-D6F9-B040-87C9-DD525E471AD2}"/>
              </a:ext>
            </a:extLst>
          </p:cNvPr>
          <p:cNvSpPr/>
          <p:nvPr/>
        </p:nvSpPr>
        <p:spPr>
          <a:xfrm>
            <a:off x="3246120" y="1865376"/>
            <a:ext cx="2651760" cy="1207008"/>
          </a:xfrm>
          <a:prstGeom prst="rect">
            <a:avLst/>
          </a:prstGeom>
          <a:solidFill>
            <a:srgbClr val="132D4F"/>
          </a:solidFill>
          <a:ln w="6350">
            <a:solidFill>
              <a:srgbClr val="1E4060"/>
            </a:solidFill>
            <a:prstDash val="solid"/>
          </a:ln>
          <a:effectLst>
            <a:outerShdw blurRad="152400" dist="381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9A324C90-2264-7819-089B-55C2738CC65C}"/>
              </a:ext>
            </a:extLst>
          </p:cNvPr>
          <p:cNvSpPr/>
          <p:nvPr/>
        </p:nvSpPr>
        <p:spPr>
          <a:xfrm>
            <a:off x="3246120" y="1907659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3400" dirty="0">
              <a:solidFill>
                <a:srgbClr val="00B4D8"/>
              </a:solidFill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6F581098-8BF9-FFB9-8234-5427395246CC}"/>
              </a:ext>
            </a:extLst>
          </p:cNvPr>
          <p:cNvSpPr/>
          <p:nvPr/>
        </p:nvSpPr>
        <p:spPr>
          <a:xfrm>
            <a:off x="3246120" y="242620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Reps Lost/Year</a:t>
            </a:r>
            <a:endParaRPr lang="en-US" sz="11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E09B9703-02F3-E012-93B6-C8F0D5107D5E}"/>
              </a:ext>
            </a:extLst>
          </p:cNvPr>
          <p:cNvSpPr/>
          <p:nvPr/>
        </p:nvSpPr>
        <p:spPr>
          <a:xfrm>
            <a:off x="3246120" y="2737881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39.8% of 83 employees</a:t>
            </a:r>
            <a:endParaRPr lang="en-US" sz="9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3441B800-C74B-A122-3297-E7C0DB2C69F4}"/>
              </a:ext>
            </a:extLst>
          </p:cNvPr>
          <p:cNvSpPr/>
          <p:nvPr/>
        </p:nvSpPr>
        <p:spPr>
          <a:xfrm>
            <a:off x="6035040" y="1865376"/>
            <a:ext cx="2651760" cy="1207008"/>
          </a:xfrm>
          <a:prstGeom prst="rect">
            <a:avLst/>
          </a:prstGeom>
          <a:solidFill>
            <a:srgbClr val="132D4F"/>
          </a:solidFill>
          <a:ln w="6350">
            <a:solidFill>
              <a:srgbClr val="1E4060"/>
            </a:solidFill>
            <a:prstDash val="solid"/>
          </a:ln>
          <a:effectLst>
            <a:outerShdw blurRad="152400" dist="381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9D3B87B0-EA7E-37AE-28BB-BF605560A34A}"/>
              </a:ext>
            </a:extLst>
          </p:cNvPr>
          <p:cNvSpPr/>
          <p:nvPr/>
        </p:nvSpPr>
        <p:spPr>
          <a:xfrm>
            <a:off x="6035040" y="1896245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$23.6K</a:t>
            </a:r>
            <a:endParaRPr lang="en-US" sz="34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3D781775-6DE1-C4D7-EBEA-C5EA90CDAAA1}"/>
              </a:ext>
            </a:extLst>
          </p:cNvPr>
          <p:cNvSpPr/>
          <p:nvPr/>
        </p:nvSpPr>
        <p:spPr>
          <a:xfrm>
            <a:off x="6035040" y="242620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Est. Cost Per Leaver</a:t>
            </a:r>
            <a:endParaRPr lang="en-US" sz="11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1135A23C-E63B-47DD-5641-9917375592A6}"/>
              </a:ext>
            </a:extLst>
          </p:cNvPr>
          <p:cNvSpPr/>
          <p:nvPr/>
        </p:nvSpPr>
        <p:spPr>
          <a:xfrm>
            <a:off x="6035040" y="2737881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 × $31.5K annual salary</a:t>
            </a:r>
            <a:endParaRPr lang="en-US" sz="9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1ABE07F9-0E58-5753-8F36-2916154B5B8D}"/>
              </a:ext>
            </a:extLst>
          </p:cNvPr>
          <p:cNvSpPr/>
          <p:nvPr/>
        </p:nvSpPr>
        <p:spPr>
          <a:xfrm>
            <a:off x="457200" y="3236976"/>
            <a:ext cx="8229600" cy="1572768"/>
          </a:xfrm>
          <a:prstGeom prst="rect">
            <a:avLst/>
          </a:prstGeom>
          <a:solidFill>
            <a:srgbClr val="0D2840"/>
          </a:solidFill>
          <a:ln w="6350">
            <a:solidFill>
              <a:srgbClr val="1E4060"/>
            </a:solidFill>
            <a:prstDash val="solid"/>
          </a:ln>
          <a:effectLst>
            <a:outerShdw blurRad="152400" dist="381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C6008003-07D5-DF53-0563-A4AF6AA6A207}"/>
              </a:ext>
            </a:extLst>
          </p:cNvPr>
          <p:cNvSpPr/>
          <p:nvPr/>
        </p:nvSpPr>
        <p:spPr>
          <a:xfrm>
            <a:off x="640080" y="334670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Numbers Tell Us</a:t>
            </a:r>
            <a:endParaRPr lang="en-US" sz="13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D1E339A8-53D7-08D8-7E87-E16699E1AF87}"/>
              </a:ext>
            </a:extLst>
          </p:cNvPr>
          <p:cNvSpPr/>
          <p:nvPr/>
        </p:nvSpPr>
        <p:spPr>
          <a:xfrm>
            <a:off x="543859" y="3730752"/>
            <a:ext cx="8142941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 Sales Representatives </a:t>
            </a:r>
            <a:r>
              <a:rPr lang="en-US" sz="1100" dirty="0">
                <a:solidFill>
                  <a:srgbClr val="E8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leave at a 39.8% attrition rate ( the highest of any role ) . 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E8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Based on SHRM's 75% replacement benchmark and their average salary of $31,512/year, </a:t>
            </a:r>
          </a:p>
          <a:p>
            <a:r>
              <a:rPr lang="en-US" sz="1100" dirty="0">
                <a:solidFill>
                  <a:srgbClr val="E8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departure represents an estimated </a:t>
            </a:r>
            <a:r>
              <a:rPr lang="en-US" sz="11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$23,634 in real costs. </a:t>
            </a:r>
          </a:p>
          <a:p>
            <a:r>
              <a:rPr lang="en-US" sz="1100" dirty="0">
                <a:solidFill>
                  <a:srgbClr val="E8EEF4"/>
                </a:solidFill>
                <a:latin typeface="Arial" pitchFamily="34" charset="0"/>
                <a:cs typeface="Arial" pitchFamily="34" charset="-120"/>
              </a:rPr>
              <a:t>Every employee retained is a cost avoided. Keeping even a fraction of this group could save the organization millions.</a:t>
            </a:r>
          </a:p>
        </p:txBody>
      </p:sp>
    </p:spTree>
    <p:extLst>
      <p:ext uri="{BB962C8B-B14F-4D97-AF65-F5344CB8AC3E}">
        <p14:creationId xmlns:p14="http://schemas.microsoft.com/office/powerpoint/2010/main" val="228383683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3080" y="149412"/>
            <a:ext cx="2306918" cy="298644"/>
          </a:xfrm>
          <a:prstGeom prst="roundRect">
            <a:avLst>
              <a:gd name="adj" fmla="val 34180"/>
            </a:avLst>
          </a:prstGeom>
          <a:solidFill>
            <a:srgbClr val="071828"/>
          </a:solidFill>
          <a:ln w="12700">
            <a:noFill/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03080" y="149412"/>
            <a:ext cx="2306918" cy="298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b="1" kern="0" spc="200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THE REAL CHALLENGE</a:t>
            </a:r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leaving — and where ?</a:t>
            </a:r>
            <a:endParaRPr lang="en-US" sz="3000" dirty="0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4216655872"/>
              </p:ext>
            </p:extLst>
          </p:nvPr>
        </p:nvGraphicFramePr>
        <p:xfrm>
          <a:off x="292608" y="1261872"/>
          <a:ext cx="5074920" cy="35478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669280" y="1115568"/>
            <a:ext cx="1389888" cy="1207008"/>
          </a:xfrm>
          <a:prstGeom prst="rect">
            <a:avLst/>
          </a:prstGeom>
          <a:solidFill>
            <a:srgbClr val="132D4F"/>
          </a:solidFill>
          <a:ln w="6350">
            <a:solidFill>
              <a:srgbClr val="1E4060"/>
            </a:solidFill>
            <a:prstDash val="solid"/>
          </a:ln>
          <a:effectLst>
            <a:outerShdw blurRad="152400" dist="381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669280" y="1188720"/>
            <a:ext cx="13898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16.1%</a:t>
            </a:r>
            <a:endParaRPr lang="en-US" sz="3400" dirty="0">
              <a:solidFill>
                <a:srgbClr val="00B4D8"/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5669280" y="1737360"/>
            <a:ext cx="13898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Rate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669280" y="2011680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237 leavers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7187184" y="1115568"/>
            <a:ext cx="1719072" cy="1207008"/>
          </a:xfrm>
          <a:prstGeom prst="rect">
            <a:avLst/>
          </a:prstGeom>
          <a:solidFill>
            <a:srgbClr val="132D4F"/>
          </a:solidFill>
          <a:ln w="6350">
            <a:solidFill>
              <a:srgbClr val="1E4060"/>
            </a:solidFill>
            <a:prstDash val="solid"/>
          </a:ln>
          <a:effectLst>
            <a:outerShdw blurRad="152400" dist="381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7187184" y="1188720"/>
            <a:ext cx="17190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39.8%</a:t>
            </a:r>
            <a:endParaRPr lang="en-US" sz="3400" dirty="0">
              <a:solidFill>
                <a:srgbClr val="00B4D8"/>
              </a:solidFill>
            </a:endParaRPr>
          </a:p>
        </p:txBody>
      </p:sp>
      <p:sp>
        <p:nvSpPr>
          <p:cNvPr id="12" name="Text 9"/>
          <p:cNvSpPr/>
          <p:nvPr/>
        </p:nvSpPr>
        <p:spPr>
          <a:xfrm>
            <a:off x="7187184" y="1737360"/>
            <a:ext cx="1719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Rep Peak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187184" y="2011680"/>
            <a:ext cx="1719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 role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669280" y="2470553"/>
            <a:ext cx="3273552" cy="1508760"/>
          </a:xfrm>
          <a:prstGeom prst="rect">
            <a:avLst/>
          </a:prstGeom>
          <a:solidFill>
            <a:srgbClr val="132D4F"/>
          </a:solidFill>
          <a:ln w="6350">
            <a:solidFill>
              <a:srgbClr val="1E4060"/>
            </a:solidFill>
            <a:prstDash val="solid"/>
          </a:ln>
          <a:effectLst>
            <a:outerShdw blurRad="152400" dist="381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760720" y="2542032"/>
            <a:ext cx="3090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Department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760720" y="2834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760720" y="2834640"/>
            <a:ext cx="3090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BE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20.6%</a:t>
            </a:r>
            <a:endParaRPr lang="en-US" sz="1100" dirty="0">
              <a:solidFill>
                <a:srgbClr val="CBE1F5"/>
              </a:solidFill>
            </a:endParaRPr>
          </a:p>
        </p:txBody>
      </p:sp>
      <p:sp>
        <p:nvSpPr>
          <p:cNvPr id="18" name="Text 15"/>
          <p:cNvSpPr/>
          <p:nvPr/>
        </p:nvSpPr>
        <p:spPr>
          <a:xfrm>
            <a:off x="5760720" y="316382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760720" y="3163824"/>
            <a:ext cx="3090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BE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19.1%</a:t>
            </a:r>
            <a:endParaRPr lang="en-US" sz="1100" dirty="0">
              <a:solidFill>
                <a:srgbClr val="CBE1F5"/>
              </a:solidFill>
            </a:endParaRPr>
          </a:p>
        </p:txBody>
      </p:sp>
      <p:sp>
        <p:nvSpPr>
          <p:cNvPr id="20" name="Text 17"/>
          <p:cNvSpPr/>
          <p:nvPr/>
        </p:nvSpPr>
        <p:spPr>
          <a:xfrm>
            <a:off x="5760720" y="34930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R&amp;D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760720" y="3493008"/>
            <a:ext cx="3090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BE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13.8%</a:t>
            </a:r>
            <a:endParaRPr lang="en-US" sz="1100" dirty="0">
              <a:solidFill>
                <a:srgbClr val="CBE1F5"/>
              </a:solidFill>
            </a:endParaRPr>
          </a:p>
        </p:txBody>
      </p:sp>
      <p:sp>
        <p:nvSpPr>
          <p:cNvPr id="22" name="Shape 19"/>
          <p:cNvSpPr/>
          <p:nvPr/>
        </p:nvSpPr>
        <p:spPr>
          <a:xfrm>
            <a:off x="5651530" y="4178808"/>
            <a:ext cx="3254726" cy="630936"/>
          </a:xfrm>
          <a:prstGeom prst="rect">
            <a:avLst/>
          </a:prstGeom>
          <a:solidFill>
            <a:srgbClr val="071828"/>
          </a:solidFill>
          <a:ln w="6350">
            <a:noFill/>
            <a:prstDash val="solid"/>
          </a:ln>
          <a:effectLst>
            <a:outerShdw blurRad="152400" dist="381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5742970" y="4237018"/>
            <a:ext cx="30906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b="1" dirty="0">
                <a:solidFill>
                  <a:srgbClr val="C8D6E0"/>
                </a:solidFill>
                <a:latin typeface="Arial" pitchFamily="34" charset="0"/>
                <a:cs typeface="Arial" pitchFamily="34" charset="-120"/>
              </a:rPr>
              <a:t>Employees under 25 represent the highest attrition segment, with a rate of 39.2%.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7820FC-95F4-761C-1C97-76D66E268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823B611-5228-B2C2-8F83-9E6F35082C14}"/>
              </a:ext>
            </a:extLst>
          </p:cNvPr>
          <p:cNvSpPr/>
          <p:nvPr/>
        </p:nvSpPr>
        <p:spPr>
          <a:xfrm>
            <a:off x="218141" y="122814"/>
            <a:ext cx="3291840" cy="313765"/>
          </a:xfrm>
          <a:prstGeom prst="roundRect">
            <a:avLst>
              <a:gd name="adj" fmla="val 31760"/>
            </a:avLst>
          </a:prstGeom>
          <a:solidFill>
            <a:srgbClr val="071828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D7BE7AC-89BC-3F3D-746D-7C9218799ED0}"/>
              </a:ext>
            </a:extLst>
          </p:cNvPr>
          <p:cNvSpPr/>
          <p:nvPr/>
        </p:nvSpPr>
        <p:spPr>
          <a:xfrm>
            <a:off x="218141" y="136890"/>
            <a:ext cx="3291840" cy="3046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DATA ACTUALLY SAYS</a:t>
            </a:r>
            <a:endParaRPr lang="en-US" sz="10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E977B7D-FFB5-DCA5-E015-971D72226F74}"/>
              </a:ext>
            </a:extLst>
          </p:cNvPr>
          <p:cNvSpPr/>
          <p:nvPr/>
        </p:nvSpPr>
        <p:spPr>
          <a:xfrm>
            <a:off x="457197" y="606133"/>
            <a:ext cx="8229600" cy="1843684"/>
          </a:xfrm>
          <a:prstGeom prst="rect">
            <a:avLst/>
          </a:prstGeom>
          <a:solidFill>
            <a:srgbClr val="22405C"/>
          </a:solidFill>
          <a:ln w="6350">
            <a:noFill/>
            <a:prstDash val="solid"/>
          </a:ln>
          <a:effectLst>
            <a:outerShdw blurRad="152400" dist="381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A18E819-12FE-48EF-11B6-8F6858D6118B}"/>
              </a:ext>
            </a:extLst>
          </p:cNvPr>
          <p:cNvSpPr/>
          <p:nvPr/>
        </p:nvSpPr>
        <p:spPr>
          <a:xfrm>
            <a:off x="457200" y="618537"/>
            <a:ext cx="7150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E8EEF4"/>
                </a:solidFill>
                <a:latin typeface="Arial" pitchFamily="34" charset="0"/>
                <a:cs typeface="Arial" pitchFamily="34" charset="-120"/>
              </a:rPr>
              <a:t>Sales Roles : High Attrition, Uneven Financial Impact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8BFEC55-7BA0-52A3-B9CC-B7E83DB24D6C}"/>
              </a:ext>
            </a:extLst>
          </p:cNvPr>
          <p:cNvSpPr/>
          <p:nvPr/>
        </p:nvSpPr>
        <p:spPr>
          <a:xfrm>
            <a:off x="457197" y="885026"/>
            <a:ext cx="8229600" cy="1972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rgbClr val="E8EEF4"/>
                </a:solidFill>
                <a:latin typeface="Arial" pitchFamily="34" charset="0"/>
                <a:cs typeface="Arial" pitchFamily="34" charset="-120"/>
              </a:rPr>
              <a:t>For</a:t>
            </a:r>
            <a:r>
              <a:rPr lang="en-US" sz="1100" dirty="0"/>
              <a:t> </a:t>
            </a:r>
            <a:r>
              <a:rPr lang="en-US" sz="1100" b="1" dirty="0">
                <a:solidFill>
                  <a:srgbClr val="E8EEF4"/>
                </a:solidFill>
                <a:latin typeface="Arial" pitchFamily="34" charset="0"/>
                <a:cs typeface="Arial" pitchFamily="34" charset="-120"/>
              </a:rPr>
              <a:t>every 3 Sales Representatives, 1 employee leaves the company. This represents not only a headcount loss but also a loss of experience, customer relationships, and accumulated team knowledge.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b="1" dirty="0">
              <a:solidFill>
                <a:srgbClr val="E8EEF4"/>
              </a:solidFill>
              <a:latin typeface="Arial" pitchFamily="34" charset="0"/>
              <a:cs typeface="Arial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rgbClr val="E8EEF4"/>
                </a:solidFill>
                <a:latin typeface="Arial" pitchFamily="34" charset="0"/>
                <a:cs typeface="Arial" pitchFamily="34" charset="-120"/>
              </a:rPr>
              <a:t>The data clearly shows two different challenges: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100" b="1" i="1" dirty="0">
                <a:solidFill>
                  <a:srgbClr val="071828"/>
                </a:solidFill>
                <a:latin typeface="Arial" pitchFamily="34" charset="0"/>
                <a:cs typeface="Arial" pitchFamily="34" charset="-120"/>
              </a:rPr>
              <a:t>Sales Representatives </a:t>
            </a:r>
            <a:r>
              <a:rPr lang="en-US" sz="1100" b="1" dirty="0">
                <a:solidFill>
                  <a:srgbClr val="E8EEF4"/>
                </a:solidFill>
                <a:latin typeface="Arial" pitchFamily="34" charset="0"/>
                <a:cs typeface="Arial" pitchFamily="34" charset="-120"/>
              </a:rPr>
              <a:t>have the highest attrition rate at 39.76%, but the overall financial impact is relatively lower (~$780K), due to smaller headcount and lower average salaries.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rgbClr val="071828"/>
                </a:solidFill>
                <a:latin typeface="Arial" pitchFamily="34" charset="0"/>
                <a:cs typeface="Arial" pitchFamily="34" charset="-120"/>
              </a:rPr>
              <a:t>Sales Executives </a:t>
            </a:r>
            <a:r>
              <a:rPr lang="en-US" sz="1100" b="1" dirty="0">
                <a:solidFill>
                  <a:srgbClr val="E8EEF4"/>
                </a:solidFill>
                <a:latin typeface="Arial" pitchFamily="34" charset="0"/>
                <a:cs typeface="Arial" pitchFamily="34" charset="-120"/>
              </a:rPr>
              <a:t>represent the highest total attrition cost at $3.55M, despite a lower attrition rate (17.48%), driven by a larger workforce (326 employees) and higher salary levels.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b="1" dirty="0">
              <a:solidFill>
                <a:srgbClr val="E8EEF4"/>
              </a:solidFill>
              <a:latin typeface="Arial" pitchFamily="34" charset="0"/>
              <a:cs typeface="Arial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b="1" dirty="0">
              <a:solidFill>
                <a:srgbClr val="E8EEF4"/>
              </a:solidFill>
              <a:latin typeface="Arial" pitchFamily="34" charset="0"/>
              <a:cs typeface="Arial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b="1" dirty="0">
              <a:solidFill>
                <a:srgbClr val="E8EEF4"/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14FC21A9-D5B9-4EF2-EDED-9CB232685BA3}"/>
              </a:ext>
            </a:extLst>
          </p:cNvPr>
          <p:cNvSpPr/>
          <p:nvPr/>
        </p:nvSpPr>
        <p:spPr>
          <a:xfrm>
            <a:off x="457198" y="4144552"/>
            <a:ext cx="8229600" cy="651501"/>
          </a:xfrm>
          <a:prstGeom prst="rect">
            <a:avLst/>
          </a:prstGeom>
          <a:solidFill>
            <a:srgbClr val="22405C"/>
          </a:solidFill>
          <a:ln w="6350">
            <a:noFill/>
            <a:prstDash val="solid"/>
          </a:ln>
          <a:effectLst>
            <a:outerShdw blurRad="152400" dist="381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09675275-10E0-8964-FB2B-1B62FFACDA78}"/>
              </a:ext>
            </a:extLst>
          </p:cNvPr>
          <p:cNvSpPr/>
          <p:nvPr/>
        </p:nvSpPr>
        <p:spPr>
          <a:xfrm>
            <a:off x="457200" y="2837473"/>
            <a:ext cx="8229600" cy="896055"/>
          </a:xfrm>
          <a:prstGeom prst="rect">
            <a:avLst/>
          </a:prstGeom>
          <a:solidFill>
            <a:srgbClr val="22405C"/>
          </a:solidFill>
          <a:ln w="6350">
            <a:noFill/>
            <a:prstDash val="solid"/>
          </a:ln>
          <a:effectLst>
            <a:outerShdw blurRad="152400" dist="381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6" name="Text 5">
            <a:extLst>
              <a:ext uri="{FF2B5EF4-FFF2-40B4-BE49-F238E27FC236}">
                <a16:creationId xmlns:a16="http://schemas.microsoft.com/office/drawing/2014/main" id="{996D10B1-801E-21BB-F4E6-96F786400334}"/>
              </a:ext>
            </a:extLst>
          </p:cNvPr>
          <p:cNvSpPr/>
          <p:nvPr/>
        </p:nvSpPr>
        <p:spPr>
          <a:xfrm>
            <a:off x="457200" y="2874137"/>
            <a:ext cx="6212541" cy="3667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E8EEF4"/>
                </a:solidFill>
                <a:latin typeface="Arial" pitchFamily="34" charset="0"/>
                <a:cs typeface="Arial" pitchFamily="34" charset="-120"/>
              </a:rPr>
              <a:t>Sales Overtime doesn’t just add hours , it multiplies attrition risk</a:t>
            </a:r>
          </a:p>
          <a:p>
            <a:endParaRPr lang="en-US" sz="1200" b="1" dirty="0">
              <a:solidFill>
                <a:srgbClr val="E8EEF4"/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27" name="Text 6">
            <a:extLst>
              <a:ext uri="{FF2B5EF4-FFF2-40B4-BE49-F238E27FC236}">
                <a16:creationId xmlns:a16="http://schemas.microsoft.com/office/drawing/2014/main" id="{4836FA10-C25C-5DE5-EC8F-7095E464463A}"/>
              </a:ext>
            </a:extLst>
          </p:cNvPr>
          <p:cNvSpPr/>
          <p:nvPr/>
        </p:nvSpPr>
        <p:spPr>
          <a:xfrm>
            <a:off x="457200" y="3065216"/>
            <a:ext cx="8229599" cy="6515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rgbClr val="E8EEF4"/>
                </a:solidFill>
                <a:latin typeface="Arial" pitchFamily="34" charset="0"/>
                <a:cs typeface="Arial" pitchFamily="34" charset="-120"/>
              </a:rPr>
              <a:t>Employees working overtime leave at nearly 3x the rate of non-overtime employees (30.5% vs 10.4%).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rgbClr val="E8EEF4"/>
                </a:solidFill>
                <a:latin typeface="Arial" pitchFamily="34" charset="0"/>
                <a:cs typeface="Arial" pitchFamily="34" charset="-120"/>
              </a:rPr>
              <a:t>The most critical segment is Entry-Level employees with overtime, where attrition reaches 52.56%,</a:t>
            </a:r>
          </a:p>
          <a:p>
            <a:pPr lvl="1"/>
            <a:r>
              <a:rPr lang="en-US" sz="1100" b="1" dirty="0">
                <a:solidFill>
                  <a:srgbClr val="E8EEF4"/>
                </a:solidFill>
                <a:latin typeface="Arial" pitchFamily="34" charset="0"/>
                <a:cs typeface="Arial" pitchFamily="34" charset="-120"/>
              </a:rPr>
              <a:t> meaning more than half of new employees work overtime leave the company.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95A17EC-2515-89DA-1239-46EDDD209842}"/>
              </a:ext>
            </a:extLst>
          </p:cNvPr>
          <p:cNvSpPr txBox="1"/>
          <p:nvPr/>
        </p:nvSpPr>
        <p:spPr>
          <a:xfrm>
            <a:off x="457198" y="4161378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b="1" dirty="0">
                <a:solidFill>
                  <a:srgbClr val="E8EEF4"/>
                </a:solidFill>
                <a:latin typeface="Arial" pitchFamily="34" charset="0"/>
                <a:cs typeface="Arial" pitchFamily="34" charset="-120"/>
              </a:rPr>
              <a:t>High Performers with Low Compensation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63E16BF-D10D-CCC4-E385-13C3F147B6FB}"/>
              </a:ext>
            </a:extLst>
          </p:cNvPr>
          <p:cNvSpPr txBox="1"/>
          <p:nvPr/>
        </p:nvSpPr>
        <p:spPr>
          <a:xfrm>
            <a:off x="971174" y="4438377"/>
            <a:ext cx="720164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rgbClr val="E8EEF4"/>
                </a:solidFill>
                <a:latin typeface="Arial" pitchFamily="34" charset="0"/>
                <a:cs typeface="Arial" pitchFamily="34" charset="-120"/>
              </a:rPr>
              <a:t>51.28% of high-performing employees with low salaries leave the company</a:t>
            </a:r>
          </a:p>
        </p:txBody>
      </p:sp>
    </p:spTree>
    <p:extLst>
      <p:ext uri="{BB962C8B-B14F-4D97-AF65-F5344CB8AC3E}">
        <p14:creationId xmlns:p14="http://schemas.microsoft.com/office/powerpoint/2010/main" val="391418741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46FDA9-4CDB-53EA-C654-86803A80A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7A05E49-870D-4EA0-A151-F9E67B80C998}"/>
              </a:ext>
            </a:extLst>
          </p:cNvPr>
          <p:cNvSpPr/>
          <p:nvPr/>
        </p:nvSpPr>
        <p:spPr>
          <a:xfrm>
            <a:off x="218141" y="122814"/>
            <a:ext cx="3291840" cy="313765"/>
          </a:xfrm>
          <a:prstGeom prst="roundRect">
            <a:avLst>
              <a:gd name="adj" fmla="val 31760"/>
            </a:avLst>
          </a:prstGeom>
          <a:solidFill>
            <a:srgbClr val="071828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F499B34-7855-183B-D12C-4504978F97F8}"/>
              </a:ext>
            </a:extLst>
          </p:cNvPr>
          <p:cNvSpPr/>
          <p:nvPr/>
        </p:nvSpPr>
        <p:spPr>
          <a:xfrm>
            <a:off x="218141" y="136890"/>
            <a:ext cx="3291840" cy="3046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DATA ACTUALLY SAYS</a:t>
            </a:r>
            <a:endParaRPr lang="en-US" sz="10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49A1DDC2-6D10-4B71-7638-12E2BFED324E}"/>
              </a:ext>
            </a:extLst>
          </p:cNvPr>
          <p:cNvSpPr/>
          <p:nvPr/>
        </p:nvSpPr>
        <p:spPr>
          <a:xfrm>
            <a:off x="457197" y="673509"/>
            <a:ext cx="8229600" cy="983087"/>
          </a:xfrm>
          <a:prstGeom prst="rect">
            <a:avLst/>
          </a:prstGeom>
          <a:solidFill>
            <a:srgbClr val="22405C"/>
          </a:solidFill>
          <a:ln w="6350">
            <a:noFill/>
            <a:prstDash val="solid"/>
          </a:ln>
          <a:effectLst>
            <a:outerShdw blurRad="152400" dist="381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1251A67-41F9-9590-CF4F-B421D1C1F078}"/>
              </a:ext>
            </a:extLst>
          </p:cNvPr>
          <p:cNvSpPr/>
          <p:nvPr/>
        </p:nvSpPr>
        <p:spPr>
          <a:xfrm>
            <a:off x="457196" y="684354"/>
            <a:ext cx="7150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E8EEF4"/>
                </a:solidFill>
                <a:latin typeface="Arial" pitchFamily="34" charset="0"/>
                <a:cs typeface="Arial" pitchFamily="34" charset="-120"/>
              </a:rPr>
              <a:t>The First Year : The Most Critical Stage in Employee Retention</a:t>
            </a: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4392213E-1CBE-7C04-2365-BFDA206729A0}"/>
              </a:ext>
            </a:extLst>
          </p:cNvPr>
          <p:cNvSpPr/>
          <p:nvPr/>
        </p:nvSpPr>
        <p:spPr>
          <a:xfrm>
            <a:off x="457200" y="3562348"/>
            <a:ext cx="8229600" cy="966205"/>
          </a:xfrm>
          <a:prstGeom prst="rect">
            <a:avLst/>
          </a:prstGeom>
          <a:solidFill>
            <a:srgbClr val="22405C"/>
          </a:solidFill>
          <a:ln w="6350">
            <a:noFill/>
            <a:prstDash val="solid"/>
          </a:ln>
          <a:effectLst>
            <a:outerShdw blurRad="152400" dist="381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B218F0D9-6DC0-DA51-D7C8-55E6D0EC4B3E}"/>
              </a:ext>
            </a:extLst>
          </p:cNvPr>
          <p:cNvSpPr/>
          <p:nvPr/>
        </p:nvSpPr>
        <p:spPr>
          <a:xfrm>
            <a:off x="425824" y="2118048"/>
            <a:ext cx="8229600" cy="982848"/>
          </a:xfrm>
          <a:prstGeom prst="rect">
            <a:avLst/>
          </a:prstGeom>
          <a:solidFill>
            <a:srgbClr val="22405C"/>
          </a:solidFill>
          <a:ln w="6350">
            <a:noFill/>
            <a:prstDash val="solid"/>
          </a:ln>
          <a:effectLst>
            <a:outerShdw blurRad="152400" dist="381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6" name="Text 5">
            <a:extLst>
              <a:ext uri="{FF2B5EF4-FFF2-40B4-BE49-F238E27FC236}">
                <a16:creationId xmlns:a16="http://schemas.microsoft.com/office/drawing/2014/main" id="{51009045-EAB1-DDFD-BB04-919195747114}"/>
              </a:ext>
            </a:extLst>
          </p:cNvPr>
          <p:cNvSpPr/>
          <p:nvPr/>
        </p:nvSpPr>
        <p:spPr>
          <a:xfrm>
            <a:off x="425824" y="2128694"/>
            <a:ext cx="6212541" cy="3274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E8EEF4"/>
                </a:solidFill>
                <a:latin typeface="Arial" pitchFamily="34" charset="0"/>
                <a:cs typeface="Arial" pitchFamily="34" charset="-120"/>
              </a:rPr>
              <a:t>Manager Quality : The Factor That Decides Who Stays and Who Leaves</a:t>
            </a:r>
          </a:p>
        </p:txBody>
      </p:sp>
      <p:sp>
        <p:nvSpPr>
          <p:cNvPr id="27" name="Text 6">
            <a:extLst>
              <a:ext uri="{FF2B5EF4-FFF2-40B4-BE49-F238E27FC236}">
                <a16:creationId xmlns:a16="http://schemas.microsoft.com/office/drawing/2014/main" id="{A7905CAE-35F7-6F00-BCDC-476D6460D7E4}"/>
              </a:ext>
            </a:extLst>
          </p:cNvPr>
          <p:cNvSpPr/>
          <p:nvPr/>
        </p:nvSpPr>
        <p:spPr>
          <a:xfrm>
            <a:off x="457197" y="943833"/>
            <a:ext cx="8229599" cy="92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100" b="1" dirty="0">
                <a:solidFill>
                  <a:srgbClr val="E8EEF4"/>
                </a:solidFill>
                <a:latin typeface="Arial" pitchFamily="34" charset="0"/>
                <a:cs typeface="Arial" pitchFamily="34" charset="-120"/>
              </a:rPr>
              <a:t>Attrition within the first year of employment: 34.88%</a:t>
            </a:r>
          </a:p>
          <a:p>
            <a:pPr marL="17145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100" b="1" dirty="0">
                <a:solidFill>
                  <a:srgbClr val="E8EEF4"/>
                </a:solidFill>
                <a:latin typeface="Arial" pitchFamily="34" charset="0"/>
                <a:cs typeface="Arial" pitchFamily="34" charset="-120"/>
              </a:rPr>
              <a:t>Attrition within the first year in the same role: 27.91% </a:t>
            </a:r>
          </a:p>
          <a:p>
            <a:pPr marL="17145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100" b="1" dirty="0">
                <a:solidFill>
                  <a:srgbClr val="E8EEF4"/>
                </a:solidFill>
                <a:latin typeface="Arial" pitchFamily="34" charset="0"/>
                <a:cs typeface="Arial" pitchFamily="34" charset="-120"/>
              </a:rPr>
              <a:t>Attrition within the first year under the same manager: 28.32%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9201D24-AF6A-AF16-BE18-C92BBA83125B}"/>
              </a:ext>
            </a:extLst>
          </p:cNvPr>
          <p:cNvSpPr txBox="1"/>
          <p:nvPr/>
        </p:nvSpPr>
        <p:spPr>
          <a:xfrm>
            <a:off x="457196" y="3568837"/>
            <a:ext cx="64922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E8EEF4"/>
                </a:solidFill>
                <a:latin typeface="Arial" pitchFamily="34" charset="0"/>
                <a:cs typeface="Arial" pitchFamily="34" charset="-120"/>
              </a:rPr>
              <a:t>Travel Policy </a:t>
            </a:r>
            <a:r>
              <a:rPr lang="ar-EG" sz="1200" b="1" dirty="0">
                <a:solidFill>
                  <a:srgbClr val="E8EEF4"/>
                </a:solidFill>
                <a:latin typeface="Arial" pitchFamily="34" charset="0"/>
                <a:cs typeface="Arial" pitchFamily="34" charset="-120"/>
              </a:rPr>
              <a:t>:</a:t>
            </a:r>
            <a:r>
              <a:rPr lang="en-US" sz="1200" b="1" dirty="0">
                <a:solidFill>
                  <a:srgbClr val="E8EEF4"/>
                </a:solidFill>
                <a:latin typeface="Arial" pitchFamily="34" charset="0"/>
                <a:cs typeface="Arial" pitchFamily="34" charset="-120"/>
              </a:rPr>
              <a:t> When Policy Design Influences Employee Departure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DA1B6F5-E30D-0F47-E14F-6B991711B4F9}"/>
              </a:ext>
            </a:extLst>
          </p:cNvPr>
          <p:cNvSpPr txBox="1"/>
          <p:nvPr/>
        </p:nvSpPr>
        <p:spPr>
          <a:xfrm>
            <a:off x="457196" y="2466749"/>
            <a:ext cx="7715622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100" b="1" dirty="0">
                <a:solidFill>
                  <a:srgbClr val="E8EEF4"/>
                </a:solidFill>
                <a:latin typeface="Arial" pitchFamily="34" charset="0"/>
                <a:cs typeface="Arial" pitchFamily="34" charset="-120"/>
              </a:rPr>
              <a:t>Managers with 11+ years of experience have a very low attrition rate of 3.92%. 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100" b="1" dirty="0">
                <a:solidFill>
                  <a:srgbClr val="E8EEF4"/>
                </a:solidFill>
                <a:latin typeface="Arial" pitchFamily="34" charset="0"/>
                <a:cs typeface="Arial" pitchFamily="34" charset="-120"/>
              </a:rPr>
              <a:t>Managers with 0–1 year of experience show a significantly higher attrition rate of 28.32%.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rgbClr val="E8EEF4"/>
                </a:solidFill>
                <a:latin typeface="Arial" pitchFamily="34" charset="0"/>
                <a:cs typeface="Arial" pitchFamily="34" charset="-120"/>
              </a:rPr>
              <a:t>highlighting leadership experience as a stronger driver of retention than salary or job role.</a:t>
            </a:r>
            <a:r>
              <a:rPr lang="en-US" altLang="en-US" sz="1100" b="1" dirty="0">
                <a:solidFill>
                  <a:srgbClr val="E8EEF4"/>
                </a:solidFill>
                <a:latin typeface="Arial" pitchFamily="34" charset="0"/>
                <a:cs typeface="Arial" pitchFamily="34" charset="-120"/>
              </a:rPr>
              <a:t> 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09573A0-AF42-D3A4-CF49-319B0C1B3DDC}"/>
              </a:ext>
            </a:extLst>
          </p:cNvPr>
          <p:cNvSpPr txBox="1"/>
          <p:nvPr/>
        </p:nvSpPr>
        <p:spPr>
          <a:xfrm>
            <a:off x="457200" y="3881713"/>
            <a:ext cx="7778374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100" b="1" dirty="0">
                <a:solidFill>
                  <a:srgbClr val="E8EEF4"/>
                </a:solidFill>
                <a:latin typeface="Arial" pitchFamily="34" charset="0"/>
                <a:cs typeface="Arial" pitchFamily="34" charset="-120"/>
              </a:rPr>
              <a:t>Frequent travel is associated with higher attrition (24.91%). </a:t>
            </a:r>
          </a:p>
          <a:p>
            <a:pPr marL="17145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100" b="1" dirty="0">
                <a:solidFill>
                  <a:srgbClr val="E8EEF4"/>
                </a:solidFill>
                <a:latin typeface="Arial" pitchFamily="34" charset="0"/>
                <a:cs typeface="Arial" pitchFamily="34" charset="-120"/>
              </a:rPr>
              <a:t>Limited travel shows lower attrition (14.96%). </a:t>
            </a:r>
          </a:p>
          <a:p>
            <a:pPr marL="17145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100" b="1" dirty="0">
                <a:solidFill>
                  <a:srgbClr val="E8EEF4"/>
                </a:solidFill>
                <a:latin typeface="Arial" pitchFamily="34" charset="0"/>
                <a:cs typeface="Arial" pitchFamily="34" charset="-120"/>
              </a:rPr>
              <a:t>Almost no travel results in the lowest attrition rate (8%). </a:t>
            </a:r>
          </a:p>
        </p:txBody>
      </p:sp>
      <p:sp>
        <p:nvSpPr>
          <p:cNvPr id="16" name="Rectangle 8">
            <a:extLst>
              <a:ext uri="{FF2B5EF4-FFF2-40B4-BE49-F238E27FC236}">
                <a16:creationId xmlns:a16="http://schemas.microsoft.com/office/drawing/2014/main" id="{000A2F04-D686-E71C-4780-1BE6844BC6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" name="Rectangle 10">
            <a:extLst>
              <a:ext uri="{FF2B5EF4-FFF2-40B4-BE49-F238E27FC236}">
                <a16:creationId xmlns:a16="http://schemas.microsoft.com/office/drawing/2014/main" id="{09F891C0-FEEA-6A05-DEFD-323706D2B3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067177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4BC04F-6E86-9C87-6678-F32008C7F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D3B7EAE-2EEF-B905-0669-BEB64E45007E}"/>
              </a:ext>
            </a:extLst>
          </p:cNvPr>
          <p:cNvSpPr/>
          <p:nvPr/>
        </p:nvSpPr>
        <p:spPr>
          <a:xfrm>
            <a:off x="218141" y="122814"/>
            <a:ext cx="3291840" cy="313765"/>
          </a:xfrm>
          <a:prstGeom prst="roundRect">
            <a:avLst>
              <a:gd name="adj" fmla="val 31760"/>
            </a:avLst>
          </a:prstGeom>
          <a:solidFill>
            <a:srgbClr val="071828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AD1E626-D2EA-4D8E-DB7F-81A10958F7A8}"/>
              </a:ext>
            </a:extLst>
          </p:cNvPr>
          <p:cNvSpPr/>
          <p:nvPr/>
        </p:nvSpPr>
        <p:spPr>
          <a:xfrm>
            <a:off x="218141" y="136890"/>
            <a:ext cx="3291840" cy="3046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DATA ACTUALLY SAYS</a:t>
            </a:r>
            <a:endParaRPr lang="en-US" sz="10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06C8EBE-CB9F-E136-4351-DC370D61E5A2}"/>
              </a:ext>
            </a:extLst>
          </p:cNvPr>
          <p:cNvSpPr/>
          <p:nvPr/>
        </p:nvSpPr>
        <p:spPr>
          <a:xfrm>
            <a:off x="457200" y="882558"/>
            <a:ext cx="8229600" cy="983087"/>
          </a:xfrm>
          <a:prstGeom prst="rect">
            <a:avLst/>
          </a:prstGeom>
          <a:solidFill>
            <a:srgbClr val="22405C"/>
          </a:solidFill>
          <a:ln w="6350">
            <a:noFill/>
            <a:prstDash val="solid"/>
          </a:ln>
          <a:effectLst>
            <a:outerShdw blurRad="152400" dist="381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B8EC7DE-35CE-38C3-FAFD-7FEF55C1E014}"/>
              </a:ext>
            </a:extLst>
          </p:cNvPr>
          <p:cNvSpPr/>
          <p:nvPr/>
        </p:nvSpPr>
        <p:spPr>
          <a:xfrm>
            <a:off x="457196" y="906286"/>
            <a:ext cx="7150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E8EEF4"/>
                </a:solidFill>
                <a:latin typeface="Arial" pitchFamily="34" charset="0"/>
                <a:cs typeface="Arial" pitchFamily="34" charset="-120"/>
              </a:rPr>
              <a:t>Delayed Promotion — Unexpected Outcome</a:t>
            </a: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44FFB577-750D-7C76-E855-A1BF63B1C252}"/>
              </a:ext>
            </a:extLst>
          </p:cNvPr>
          <p:cNvSpPr/>
          <p:nvPr/>
        </p:nvSpPr>
        <p:spPr>
          <a:xfrm>
            <a:off x="457196" y="3282645"/>
            <a:ext cx="8229600" cy="1323439"/>
          </a:xfrm>
          <a:prstGeom prst="rect">
            <a:avLst/>
          </a:prstGeom>
          <a:solidFill>
            <a:srgbClr val="22405C"/>
          </a:solidFill>
          <a:ln w="6350">
            <a:noFill/>
            <a:prstDash val="solid"/>
          </a:ln>
          <a:effectLst>
            <a:outerShdw blurRad="152400" dist="381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071A4088-3810-25A1-AA35-0D2B957C092E}"/>
              </a:ext>
            </a:extLst>
          </p:cNvPr>
          <p:cNvSpPr/>
          <p:nvPr/>
        </p:nvSpPr>
        <p:spPr>
          <a:xfrm>
            <a:off x="457198" y="2082721"/>
            <a:ext cx="8229600" cy="982848"/>
          </a:xfrm>
          <a:prstGeom prst="rect">
            <a:avLst/>
          </a:prstGeom>
          <a:solidFill>
            <a:srgbClr val="22405C"/>
          </a:solidFill>
          <a:ln w="6350">
            <a:noFill/>
            <a:prstDash val="solid"/>
          </a:ln>
          <a:effectLst>
            <a:outerShdw blurRad="152400" dist="381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7" name="Text 6">
            <a:extLst>
              <a:ext uri="{FF2B5EF4-FFF2-40B4-BE49-F238E27FC236}">
                <a16:creationId xmlns:a16="http://schemas.microsoft.com/office/drawing/2014/main" id="{4E185759-3C68-9EE1-87E9-924962810662}"/>
              </a:ext>
            </a:extLst>
          </p:cNvPr>
          <p:cNvSpPr/>
          <p:nvPr/>
        </p:nvSpPr>
        <p:spPr>
          <a:xfrm>
            <a:off x="457196" y="1188990"/>
            <a:ext cx="8229599" cy="6705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rgbClr val="E8EEF4"/>
                </a:solidFill>
                <a:latin typeface="Arial" pitchFamily="34" charset="0"/>
                <a:cs typeface="Arial" pitchFamily="34" charset="-120"/>
              </a:rPr>
              <a:t>Employees with more than 6 years without promotion show lower attrition (33.33%) compared to recently promoted employees (57.14% in 0 years after promotion), suggesting a potential post-promotion adjustment or expectation gap. </a:t>
            </a:r>
          </a:p>
        </p:txBody>
      </p:sp>
      <p:sp>
        <p:nvSpPr>
          <p:cNvPr id="16" name="Rectangle 8">
            <a:extLst>
              <a:ext uri="{FF2B5EF4-FFF2-40B4-BE49-F238E27FC236}">
                <a16:creationId xmlns:a16="http://schemas.microsoft.com/office/drawing/2014/main" id="{D6083551-8FED-D024-BD28-422BF11C39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" name="Rectangle 10">
            <a:extLst>
              <a:ext uri="{FF2B5EF4-FFF2-40B4-BE49-F238E27FC236}">
                <a16:creationId xmlns:a16="http://schemas.microsoft.com/office/drawing/2014/main" id="{08B880DC-68BF-83AC-E9F9-B9468ECD09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CB8C5D-59E3-6B19-E6D6-41B094492D5D}"/>
              </a:ext>
            </a:extLst>
          </p:cNvPr>
          <p:cNvSpPr txBox="1"/>
          <p:nvPr/>
        </p:nvSpPr>
        <p:spPr>
          <a:xfrm>
            <a:off x="457200" y="2122579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E8EEF4"/>
                </a:solidFill>
                <a:latin typeface="Arial" pitchFamily="34" charset="0"/>
                <a:cs typeface="Arial" pitchFamily="34" charset="-120"/>
              </a:rPr>
              <a:t>Employees (Under 25 Years Old)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B32401-E9F8-5DF9-0501-CB3646F83E13}"/>
              </a:ext>
            </a:extLst>
          </p:cNvPr>
          <p:cNvSpPr txBox="1"/>
          <p:nvPr/>
        </p:nvSpPr>
        <p:spPr>
          <a:xfrm>
            <a:off x="971175" y="2420884"/>
            <a:ext cx="777837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rgbClr val="E8EEF4"/>
                </a:solidFill>
                <a:latin typeface="Arial" pitchFamily="34" charset="0"/>
                <a:cs typeface="Arial" pitchFamily="34" charset="-120"/>
              </a:rPr>
              <a:t>Employees under 25 show the highest attrition rate at 39.18%, nearly double the next age group (25–34 years: 20.22%).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864FEB-FA4F-1FFB-4FA9-C9FC8BC9971B}"/>
              </a:ext>
            </a:extLst>
          </p:cNvPr>
          <p:cNvSpPr txBox="1"/>
          <p:nvPr/>
        </p:nvSpPr>
        <p:spPr>
          <a:xfrm>
            <a:off x="457195" y="3264196"/>
            <a:ext cx="822959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E8EEF4"/>
                </a:solidFill>
                <a:latin typeface="Arial" pitchFamily="34" charset="0"/>
                <a:cs typeface="Arial" pitchFamily="34" charset="-120"/>
              </a:rPr>
              <a:t>R&amp;D </a:t>
            </a:r>
            <a:r>
              <a:rPr lang="ar-EG" sz="1200" b="1" dirty="0">
                <a:solidFill>
                  <a:srgbClr val="E8EEF4"/>
                </a:solidFill>
                <a:latin typeface="Arial" pitchFamily="34" charset="0"/>
                <a:cs typeface="Arial" pitchFamily="34" charset="-120"/>
              </a:rPr>
              <a:t>:</a:t>
            </a:r>
            <a:r>
              <a:rPr lang="en-US" sz="1200" b="1" dirty="0">
                <a:solidFill>
                  <a:srgbClr val="E8EEF4"/>
                </a:solidFill>
                <a:latin typeface="Arial" pitchFamily="34" charset="0"/>
                <a:cs typeface="Arial" pitchFamily="34" charset="-120"/>
              </a:rPr>
              <a:t> Lowest Attrition, Highest Financial Cost</a:t>
            </a:r>
            <a:endParaRPr lang="ar-EG" sz="1200" b="1" dirty="0">
              <a:solidFill>
                <a:srgbClr val="E8EEF4"/>
              </a:solidFill>
              <a:latin typeface="Arial" pitchFamily="34" charset="0"/>
              <a:cs typeface="Arial" pitchFamily="34" charset="-120"/>
            </a:endParaRPr>
          </a:p>
          <a:p>
            <a:endParaRPr lang="ar-EG" sz="1200" b="1" dirty="0">
              <a:solidFill>
                <a:srgbClr val="E8EEF4"/>
              </a:solidFill>
              <a:latin typeface="Arial" pitchFamily="34" charset="0"/>
              <a:cs typeface="Arial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rgbClr val="E8EEF4"/>
                </a:solidFill>
                <a:latin typeface="Arial" pitchFamily="34" charset="0"/>
                <a:cs typeface="Arial" pitchFamily="34" charset="-120"/>
              </a:rPr>
              <a:t>R&amp;D has the lowest attrition rate at 13.8% across all departments. However it carries the highest attrition cost at $7.5M</a:t>
            </a:r>
            <a:r>
              <a:rPr lang="ar-EG" sz="1100" b="1" dirty="0">
                <a:solidFill>
                  <a:srgbClr val="E8EEF4"/>
                </a:solidFill>
                <a:latin typeface="Arial" pitchFamily="34" charset="0"/>
                <a:cs typeface="Arial" pitchFamily="34" charset="-120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rgbClr val="E8EEF4"/>
                </a:solidFill>
                <a:latin typeface="Arial" pitchFamily="34" charset="0"/>
                <a:cs typeface="Arial" pitchFamily="34" charset="-120"/>
              </a:rPr>
              <a:t>This is driven by: </a:t>
            </a:r>
          </a:p>
          <a:p>
            <a:pPr marL="628650" lvl="2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rgbClr val="E8EEF4"/>
                </a:solidFill>
                <a:latin typeface="Arial" pitchFamily="34" charset="0"/>
                <a:cs typeface="Arial" pitchFamily="34" charset="-120"/>
              </a:rPr>
              <a:t>Large headcount (961 employees) </a:t>
            </a:r>
            <a:r>
              <a:rPr lang="ar-EG" sz="1100" b="1" dirty="0">
                <a:solidFill>
                  <a:srgbClr val="E8EEF4"/>
                </a:solidFill>
                <a:latin typeface="Arial" pitchFamily="34" charset="0"/>
                <a:cs typeface="Arial" pitchFamily="34" charset="-120"/>
              </a:rPr>
              <a:t> &amp;</a:t>
            </a:r>
            <a:r>
              <a:rPr lang="en-US" sz="1100" b="1" dirty="0">
                <a:solidFill>
                  <a:srgbClr val="E8EEF4"/>
                </a:solidFill>
                <a:latin typeface="Arial" pitchFamily="34" charset="0"/>
                <a:cs typeface="Arial" pitchFamily="34" charset="-120"/>
              </a:rPr>
              <a:t>Higher-than-average salaries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rgbClr val="E8EEF4"/>
                </a:solidFill>
                <a:latin typeface="Arial" pitchFamily="34" charset="0"/>
                <a:cs typeface="Arial" pitchFamily="34" charset="-120"/>
              </a:rPr>
              <a:t>R&amp;D alone costs more than Sales and HR combined ($5.76M + $718K). </a:t>
            </a:r>
          </a:p>
          <a:p>
            <a:endParaRPr lang="en-US" sz="1200" b="1" dirty="0">
              <a:solidFill>
                <a:srgbClr val="E8EEF4"/>
              </a:solidFill>
              <a:latin typeface="Arial" pitchFamily="34" charset="0"/>
              <a:cs typeface="Arial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5789591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1483" y="125506"/>
            <a:ext cx="3383280" cy="322550"/>
          </a:xfrm>
          <a:prstGeom prst="roundRect">
            <a:avLst>
              <a:gd name="adj" fmla="val 24498"/>
            </a:avLst>
          </a:prstGeom>
          <a:solidFill>
            <a:srgbClr val="071828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31483" y="143615"/>
            <a:ext cx="3383280" cy="322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CAUSE ANALYSIS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levers control 80% of the attrition risk.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1261872"/>
            <a:ext cx="2715768" cy="3566160"/>
          </a:xfrm>
          <a:prstGeom prst="rect">
            <a:avLst/>
          </a:prstGeom>
          <a:solidFill>
            <a:srgbClr val="132D4F"/>
          </a:solidFill>
          <a:ln w="6350">
            <a:solidFill>
              <a:srgbClr val="1E4060"/>
            </a:solidFill>
            <a:prstDash val="solid"/>
          </a:ln>
          <a:effectLst>
            <a:outerShdw blurRad="152400" dist="381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335024"/>
            <a:ext cx="2715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718D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>
              <a:solidFill>
                <a:srgbClr val="718DA8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411480" y="1627632"/>
            <a:ext cx="25328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47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OverTime Policy</a:t>
            </a:r>
            <a:endParaRPr lang="en-US" sz="1400" dirty="0">
              <a:solidFill>
                <a:srgbClr val="247DD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320040" y="2084832"/>
            <a:ext cx="27157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30.5%</a:t>
            </a:r>
            <a:endParaRPr lang="en-US" sz="3200" dirty="0">
              <a:solidFill>
                <a:srgbClr val="00B4D8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320040" y="2688336"/>
            <a:ext cx="2715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10.4% without OverTime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29768" y="3145536"/>
            <a:ext cx="2496312" cy="15874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E8EEF4"/>
                </a:solidFill>
                <a:latin typeface="Arial" pitchFamily="34" charset="0"/>
                <a:cs typeface="Arial" pitchFamily="34" charset="-120"/>
              </a:rPr>
              <a:t>Employees working overtime leave at a rate of 30.5%, compared to 10.4% for those who do not work overtime , representing a 3x higher attrition risk. The impact becomes even more severe when combined with Sales Representatives, where attrition rises dramatically to 66.7%.</a:t>
            </a:r>
          </a:p>
        </p:txBody>
      </p:sp>
      <p:sp>
        <p:nvSpPr>
          <p:cNvPr id="12" name="Shape 10"/>
          <p:cNvSpPr/>
          <p:nvPr/>
        </p:nvSpPr>
        <p:spPr>
          <a:xfrm>
            <a:off x="3218688" y="1261872"/>
            <a:ext cx="2715768" cy="3566160"/>
          </a:xfrm>
          <a:prstGeom prst="rect">
            <a:avLst/>
          </a:prstGeom>
          <a:solidFill>
            <a:srgbClr val="132D4F"/>
          </a:solidFill>
          <a:ln w="6350">
            <a:solidFill>
              <a:srgbClr val="1E4060"/>
            </a:solidFill>
            <a:prstDash val="solid"/>
          </a:ln>
          <a:effectLst>
            <a:outerShdw blurRad="152400" dist="381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218688" y="1335024"/>
            <a:ext cx="2715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718D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>
              <a:solidFill>
                <a:srgbClr val="718DA8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3310128" y="1627632"/>
            <a:ext cx="25328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47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Compensation Gap</a:t>
            </a:r>
            <a:endParaRPr lang="en-US" sz="1400" dirty="0">
              <a:solidFill>
                <a:srgbClr val="247DD1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3218688" y="2084832"/>
            <a:ext cx="27157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$2,470</a:t>
            </a:r>
            <a:endParaRPr lang="en-US" sz="3200" dirty="0">
              <a:solidFill>
                <a:srgbClr val="00B4D8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3218688" y="2688336"/>
            <a:ext cx="2715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income gap: leavers vs stayers (Job Level 4)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01568" y="3141650"/>
            <a:ext cx="2496312" cy="1591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E8EEF4"/>
                </a:solidFill>
                <a:latin typeface="Arial" pitchFamily="34" charset="0"/>
                <a:cs typeface="Arial" pitchFamily="34" charset="-120"/>
              </a:rPr>
              <a:t>Employees who left at Job Level 4 had an average monthly salary that was $2,470 lower than those who stayed at the same level. Among high performers, those earning below the average salary show an attrition rate of 25.8%, which increases sharply to 51.3% when combined with overtime.</a:t>
            </a:r>
          </a:p>
        </p:txBody>
      </p:sp>
      <p:sp>
        <p:nvSpPr>
          <p:cNvPr id="19" name="Shape 17"/>
          <p:cNvSpPr/>
          <p:nvPr/>
        </p:nvSpPr>
        <p:spPr>
          <a:xfrm>
            <a:off x="6208776" y="1231213"/>
            <a:ext cx="2715768" cy="3566160"/>
          </a:xfrm>
          <a:prstGeom prst="rect">
            <a:avLst/>
          </a:prstGeom>
          <a:solidFill>
            <a:srgbClr val="132D4F"/>
          </a:solidFill>
          <a:ln w="6350">
            <a:solidFill>
              <a:srgbClr val="1E4060"/>
            </a:solidFill>
            <a:prstDash val="solid"/>
          </a:ln>
          <a:effectLst>
            <a:outerShdw blurRad="152400" dist="381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117336" y="1335024"/>
            <a:ext cx="2715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718D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>
              <a:solidFill>
                <a:srgbClr val="718DA8"/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6208776" y="1627632"/>
            <a:ext cx="25328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47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Windows</a:t>
            </a:r>
            <a:endParaRPr lang="en-US" sz="1400" dirty="0">
              <a:solidFill>
                <a:srgbClr val="247DD1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6117336" y="2084832"/>
            <a:ext cx="27157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28.3%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6117336" y="2688336"/>
            <a:ext cx="2715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attrition in first year with new manager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373368" y="3050331"/>
            <a:ext cx="2350008" cy="18288"/>
          </a:xfrm>
          <a:prstGeom prst="rect">
            <a:avLst/>
          </a:prstGeom>
          <a:solidFill>
            <a:srgbClr val="00B4D8">
              <a:alpha val="6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227064" y="3044952"/>
            <a:ext cx="2496312" cy="16880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E8EEF4"/>
                </a:solidFill>
                <a:latin typeface="Arial" pitchFamily="34" charset="0"/>
                <a:cs typeface="Arial" pitchFamily="34" charset="-120"/>
              </a:rPr>
              <a:t>The first year with a new manager or in a new role represents the highest risk period, with an attrition rate of 28.3% , employees with 3–5 years without promotion show the lowest attrition rate at just 10.1%.</a:t>
            </a:r>
          </a:p>
        </p:txBody>
      </p:sp>
      <p:sp>
        <p:nvSpPr>
          <p:cNvPr id="28" name="Shape 22">
            <a:extLst>
              <a:ext uri="{FF2B5EF4-FFF2-40B4-BE49-F238E27FC236}">
                <a16:creationId xmlns:a16="http://schemas.microsoft.com/office/drawing/2014/main" id="{48263EFB-35D9-DD65-C5F7-436F31215237}"/>
              </a:ext>
            </a:extLst>
          </p:cNvPr>
          <p:cNvSpPr/>
          <p:nvPr/>
        </p:nvSpPr>
        <p:spPr>
          <a:xfrm>
            <a:off x="3447288" y="3044952"/>
            <a:ext cx="2350008" cy="18288"/>
          </a:xfrm>
          <a:prstGeom prst="rect">
            <a:avLst/>
          </a:prstGeom>
          <a:solidFill>
            <a:srgbClr val="00B4D8">
              <a:alpha val="6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2">
            <a:extLst>
              <a:ext uri="{FF2B5EF4-FFF2-40B4-BE49-F238E27FC236}">
                <a16:creationId xmlns:a16="http://schemas.microsoft.com/office/drawing/2014/main" id="{B72A3781-F3F2-3B1C-98F3-0040C7B998B0}"/>
              </a:ext>
            </a:extLst>
          </p:cNvPr>
          <p:cNvSpPr/>
          <p:nvPr/>
        </p:nvSpPr>
        <p:spPr>
          <a:xfrm>
            <a:off x="502920" y="3050331"/>
            <a:ext cx="2350008" cy="18288"/>
          </a:xfrm>
          <a:prstGeom prst="rect">
            <a:avLst/>
          </a:prstGeom>
          <a:solidFill>
            <a:srgbClr val="00B4D8">
              <a:alpha val="6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4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83045" y="128016"/>
            <a:ext cx="3402405" cy="283464"/>
          </a:xfrm>
          <a:prstGeom prst="roundRect">
            <a:avLst>
              <a:gd name="adj" fmla="val 36601"/>
            </a:avLst>
          </a:prstGeom>
          <a:solidFill>
            <a:srgbClr val="071828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83045" y="146483"/>
            <a:ext cx="3402404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SEGMENT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employees. One combination. 51.3% attrition.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8229600" cy="1188720"/>
          </a:xfrm>
          <a:prstGeom prst="rect">
            <a:avLst/>
          </a:prstGeom>
          <a:solidFill>
            <a:srgbClr val="071828"/>
          </a:solidFill>
          <a:ln w="6350">
            <a:solidFill>
              <a:srgbClr val="1E4060"/>
            </a:solidFill>
            <a:prstDash val="solid"/>
          </a:ln>
          <a:effectLst>
            <a:outerShdw blurRad="152400" dist="381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44475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8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Performer  +  </a:t>
            </a:r>
            <a:r>
              <a:rPr lang="en-US" sz="1800" b="1" dirty="0">
                <a:solidFill>
                  <a:schemeClr val="accent5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Pay  +</a:t>
            </a:r>
            <a:r>
              <a:rPr lang="en-US" sz="18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800" b="1" dirty="0">
                <a:solidFill>
                  <a:srgbClr val="718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OverTime</a:t>
            </a:r>
            <a:r>
              <a:rPr lang="en-US" sz="18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800" dirty="0">
                <a:solidFill>
                  <a:srgbClr val="C8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 </a:t>
            </a:r>
            <a:r>
              <a:rPr lang="en-US" sz="1800" b="1" dirty="0">
                <a:solidFill>
                  <a:srgbClr val="718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51.3% Attrition Rate</a:t>
            </a:r>
            <a:endParaRPr lang="en-US" sz="1800" dirty="0">
              <a:solidFill>
                <a:srgbClr val="718DA8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8D6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are your best people , overworked, underpaid.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743200"/>
            <a:ext cx="4069080" cy="987552"/>
          </a:xfrm>
          <a:prstGeom prst="rect">
            <a:avLst/>
          </a:prstGeom>
          <a:solidFill>
            <a:srgbClr val="071828"/>
          </a:solidFill>
          <a:ln w="6350">
            <a:noFill/>
            <a:prstDash val="solid"/>
          </a:ln>
          <a:effectLst>
            <a:outerShdw blurRad="152400" dist="381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66928" y="2798064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Performer / High Pay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" y="309067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106 employees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154680" y="2779776"/>
            <a:ext cx="12984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247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5.7%</a:t>
            </a:r>
            <a:endParaRPr lang="en-US" sz="2400" dirty="0">
              <a:solidFill>
                <a:srgbClr val="247DD1"/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709160" y="2743200"/>
            <a:ext cx="4069080" cy="987552"/>
          </a:xfrm>
          <a:prstGeom prst="rect">
            <a:avLst/>
          </a:prstGeom>
          <a:solidFill>
            <a:srgbClr val="071828"/>
          </a:solidFill>
          <a:ln w="6350">
            <a:noFill/>
            <a:prstDash val="solid"/>
          </a:ln>
          <a:effectLst>
            <a:outerShdw blurRad="152400" dist="381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18888" y="2798064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Performer / Low Pay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18888" y="309067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 employees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406640" y="2779776"/>
            <a:ext cx="12984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247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25.8%</a:t>
            </a:r>
            <a:endParaRPr lang="en-US" sz="2400" dirty="0">
              <a:solidFill>
                <a:srgbClr val="247DD1"/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57200" y="3840480"/>
            <a:ext cx="4069080" cy="987552"/>
          </a:xfrm>
          <a:prstGeom prst="rect">
            <a:avLst/>
          </a:prstGeom>
          <a:solidFill>
            <a:srgbClr val="071828"/>
          </a:solidFill>
          <a:ln w="6350">
            <a:noFill/>
            <a:prstDash val="solid"/>
          </a:ln>
          <a:effectLst>
            <a:outerShdw blurRad="152400" dist="381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66928" y="3895344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Performer / High Pay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66928" y="418795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629 employees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154680" y="3877056"/>
            <a:ext cx="12984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247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11.3%</a:t>
            </a:r>
            <a:endParaRPr lang="en-US" sz="2400" dirty="0">
              <a:solidFill>
                <a:srgbClr val="247DD1"/>
              </a:solidFill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709160" y="3840480"/>
            <a:ext cx="4069080" cy="987552"/>
          </a:xfrm>
          <a:prstGeom prst="rect">
            <a:avLst/>
          </a:prstGeom>
          <a:solidFill>
            <a:srgbClr val="071828"/>
          </a:solidFill>
          <a:ln w="6350">
            <a:noFill/>
            <a:prstDash val="solid"/>
          </a:ln>
          <a:effectLst>
            <a:outerShdw blurRad="152400" dist="381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818888" y="3895344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Performer / Low Pay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18888" y="418795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615 employees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406640" y="3877056"/>
            <a:ext cx="12984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247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21.0%</a:t>
            </a:r>
            <a:endParaRPr lang="en-US" sz="2400" dirty="0">
              <a:solidFill>
                <a:srgbClr val="247DD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18872"/>
            <a:ext cx="3383280" cy="329184"/>
          </a:xfrm>
          <a:prstGeom prst="roundRect">
            <a:avLst>
              <a:gd name="adj" fmla="val 29339"/>
            </a:avLst>
          </a:prstGeom>
          <a:solidFill>
            <a:srgbClr val="071828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18872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DIVE  HP / LOW PAY SEGMENT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undervalued employees. 77% in R&amp;D.</a:t>
            </a:r>
            <a:endParaRPr lang="en-US" sz="3000" dirty="0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2545777942"/>
              </p:ext>
            </p:extLst>
          </p:nvPr>
        </p:nvGraphicFramePr>
        <p:xfrm>
          <a:off x="365760" y="1170432"/>
          <a:ext cx="507492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577840" y="1170432"/>
            <a:ext cx="3337560" cy="1508760"/>
          </a:xfrm>
          <a:prstGeom prst="rect">
            <a:avLst/>
          </a:prstGeom>
          <a:solidFill>
            <a:srgbClr val="132D4F"/>
          </a:solidFill>
          <a:ln w="6350">
            <a:solidFill>
              <a:srgbClr val="1E4060"/>
            </a:solidFill>
            <a:prstDash val="solid"/>
          </a:ln>
          <a:effectLst>
            <a:outerShdw blurRad="152400" dist="381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669280" y="123444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are they?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715000" y="153619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R&amp;D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715000" y="1536192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171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 employees (77%)</a:t>
            </a:r>
            <a:endParaRPr lang="en-US" sz="1000" dirty="0">
              <a:solidFill>
                <a:srgbClr val="51718F"/>
              </a:solidFill>
            </a:endParaRPr>
          </a:p>
        </p:txBody>
      </p:sp>
      <p:sp>
        <p:nvSpPr>
          <p:cNvPr id="10" name="Text 7"/>
          <p:cNvSpPr/>
          <p:nvPr/>
        </p:nvSpPr>
        <p:spPr>
          <a:xfrm>
            <a:off x="5715000" y="187452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715000" y="187452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employees (19%)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715000" y="221284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715000" y="221284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employees (4%)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577840" y="2816352"/>
            <a:ext cx="3337560" cy="1737360"/>
          </a:xfrm>
          <a:prstGeom prst="rect">
            <a:avLst/>
          </a:prstGeom>
          <a:solidFill>
            <a:srgbClr val="071828"/>
          </a:solidFill>
          <a:ln w="6350">
            <a:noFill/>
            <a:prstDash val="solid"/>
          </a:ln>
          <a:effectLst>
            <a:outerShdw blurRad="152400" dist="381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669280" y="2889504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47D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OverTime to this group:</a:t>
            </a:r>
            <a:endParaRPr lang="en-US" sz="1100" dirty="0">
              <a:solidFill>
                <a:srgbClr val="247DD1"/>
              </a:solidFill>
            </a:endParaRPr>
          </a:p>
        </p:txBody>
      </p:sp>
      <p:sp>
        <p:nvSpPr>
          <p:cNvPr id="16" name="Text 13"/>
          <p:cNvSpPr/>
          <p:nvPr/>
        </p:nvSpPr>
        <p:spPr>
          <a:xfrm>
            <a:off x="5669280" y="320040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3800" dirty="0"/>
          </a:p>
        </p:txBody>
      </p:sp>
      <p:sp>
        <p:nvSpPr>
          <p:cNvPr id="17" name="Text 14"/>
          <p:cNvSpPr/>
          <p:nvPr/>
        </p:nvSpPr>
        <p:spPr>
          <a:xfrm>
            <a:off x="5669280" y="390906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B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→ 51.3% attrition</a:t>
            </a:r>
            <a:endParaRPr lang="en-US" sz="1200" dirty="0">
              <a:solidFill>
                <a:srgbClr val="CBE1F5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4565" y="173736"/>
            <a:ext cx="3384475" cy="274320"/>
          </a:xfrm>
          <a:prstGeom prst="roundRect">
            <a:avLst>
              <a:gd name="adj" fmla="val 34181"/>
            </a:avLst>
          </a:prstGeom>
          <a:solidFill>
            <a:srgbClr val="071828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4565" y="173736"/>
            <a:ext cx="33844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BRIGHT SIGNALS  ·  WHAT'S WORKING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everything is broken. Here's what to protect.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4160520" cy="1371600"/>
          </a:xfrm>
          <a:prstGeom prst="rect">
            <a:avLst/>
          </a:prstGeom>
          <a:solidFill>
            <a:srgbClr val="071828"/>
          </a:solidFill>
          <a:ln w="6350">
            <a:solidFill>
              <a:srgbClr val="22405C"/>
            </a:solidFill>
            <a:prstDash val="solid"/>
          </a:ln>
          <a:effectLst>
            <a:outerShdw blurRad="152400" dist="381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4160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47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4.9%</a:t>
            </a:r>
            <a:endParaRPr lang="en-US" sz="3000" dirty="0">
              <a:solidFill>
                <a:srgbClr val="247DD1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1901952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 attrition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" y="219456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stable role in the company. 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800600" y="1298448"/>
            <a:ext cx="4160520" cy="1371600"/>
          </a:xfrm>
          <a:prstGeom prst="rect">
            <a:avLst/>
          </a:prstGeom>
          <a:solidFill>
            <a:srgbClr val="071828"/>
          </a:solidFill>
          <a:ln w="6350">
            <a:solidFill>
              <a:srgbClr val="1E4060"/>
            </a:solidFill>
            <a:prstDash val="solid"/>
          </a:ln>
          <a:effectLst>
            <a:outerShdw blurRad="152400" dist="381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00600" y="1371600"/>
            <a:ext cx="4160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47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10.5%</a:t>
            </a:r>
            <a:endParaRPr lang="en-US" sz="3000" dirty="0">
              <a:solidFill>
                <a:srgbClr val="247DD1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4800600" y="1901952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2–3 prior employers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10328" y="219456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Employees with 2-3 prior companies are the most stable. Use in hiring screening.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807208"/>
            <a:ext cx="4160520" cy="1371600"/>
          </a:xfrm>
          <a:prstGeom prst="rect">
            <a:avLst/>
          </a:prstGeom>
          <a:solidFill>
            <a:srgbClr val="071828"/>
          </a:solidFill>
          <a:ln w="6350">
            <a:solidFill>
              <a:srgbClr val="1E4060"/>
            </a:solidFill>
            <a:prstDash val="solid"/>
          </a:ln>
          <a:effectLst>
            <a:outerShdw blurRad="152400" dist="381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2880360"/>
            <a:ext cx="4160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47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Gap</a:t>
            </a:r>
            <a:endParaRPr lang="en-US" sz="3000" dirty="0">
              <a:solidFill>
                <a:srgbClr val="247DD1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457200" y="3410712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Gender pay equity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66928" y="3703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3% variance across all 5 job levels. No systemic gap. 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800600" y="2807208"/>
            <a:ext cx="4160520" cy="1371600"/>
          </a:xfrm>
          <a:prstGeom prst="rect">
            <a:avLst/>
          </a:prstGeom>
          <a:solidFill>
            <a:srgbClr val="071828"/>
          </a:solidFill>
          <a:ln w="6350">
            <a:solidFill>
              <a:srgbClr val="1E4060"/>
            </a:solidFill>
            <a:prstDash val="solid"/>
          </a:ln>
          <a:effectLst>
            <a:outerShdw blurRad="152400" dist="381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00600" y="2880360"/>
            <a:ext cx="4160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47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10.1%</a:t>
            </a:r>
            <a:endParaRPr lang="en-US" sz="3000" dirty="0">
              <a:solidFill>
                <a:srgbClr val="247DD1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4800600" y="3410712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3–5 yrs, no promotion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10328" y="3703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i="1" dirty="0">
                <a:solidFill>
                  <a:srgbClr val="8899AA"/>
                </a:solidFill>
                <a:latin typeface="Arial" pitchFamily="34" charset="0"/>
                <a:cs typeface="Arial" pitchFamily="34" charset="-120"/>
              </a:rPr>
              <a:t>Stagnation isn’t the issue — targeted retention works better.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4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457200" y="502920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6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33A704E-745A-5D6E-D4A2-7FA3A5433EB2}"/>
              </a:ext>
            </a:extLst>
          </p:cNvPr>
          <p:cNvSpPr txBox="1"/>
          <p:nvPr/>
        </p:nvSpPr>
        <p:spPr>
          <a:xfrm>
            <a:off x="84772" y="4672584"/>
            <a:ext cx="434911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718DA8"/>
                </a:solidFill>
              </a:rPr>
              <a:t>Reach out if you'd like to see how this was built.</a:t>
            </a:r>
          </a:p>
        </p:txBody>
      </p:sp>
      <p:sp>
        <p:nvSpPr>
          <p:cNvPr id="29" name="Text 5">
            <a:extLst>
              <a:ext uri="{FF2B5EF4-FFF2-40B4-BE49-F238E27FC236}">
                <a16:creationId xmlns:a16="http://schemas.microsoft.com/office/drawing/2014/main" id="{805CAD07-C807-161F-584F-29F6A8B17474}"/>
              </a:ext>
            </a:extLst>
          </p:cNvPr>
          <p:cNvSpPr/>
          <p:nvPr/>
        </p:nvSpPr>
        <p:spPr>
          <a:xfrm>
            <a:off x="205740" y="2459736"/>
            <a:ext cx="9144000" cy="1426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2000" b="1" dirty="0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30" name="Text 5">
            <a:extLst>
              <a:ext uri="{FF2B5EF4-FFF2-40B4-BE49-F238E27FC236}">
                <a16:creationId xmlns:a16="http://schemas.microsoft.com/office/drawing/2014/main" id="{8361446C-072E-EB18-B386-44EBD50F16F2}"/>
              </a:ext>
            </a:extLst>
          </p:cNvPr>
          <p:cNvSpPr/>
          <p:nvPr/>
        </p:nvSpPr>
        <p:spPr>
          <a:xfrm>
            <a:off x="2397442" y="2156460"/>
            <a:ext cx="4582478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Thanks You </a:t>
            </a:r>
            <a:r>
              <a:rPr lang="en-US" sz="3200" b="1" dirty="0">
                <a:solidFill>
                  <a:srgbClr val="1D65A8"/>
                </a:solidFill>
                <a:latin typeface="Calibri" pitchFamily="34" charset="0"/>
                <a:cs typeface="Calibri" pitchFamily="34" charset="-120"/>
              </a:rPr>
              <a:t>For Your Time </a:t>
            </a:r>
          </a:p>
        </p:txBody>
      </p:sp>
      <p:sp>
        <p:nvSpPr>
          <p:cNvPr id="31" name="Shape 0">
            <a:extLst>
              <a:ext uri="{FF2B5EF4-FFF2-40B4-BE49-F238E27FC236}">
                <a16:creationId xmlns:a16="http://schemas.microsoft.com/office/drawing/2014/main" id="{58A2A0C1-F822-AE22-79D5-3CDA2002A7CA}"/>
              </a:ext>
            </a:extLst>
          </p:cNvPr>
          <p:cNvSpPr/>
          <p:nvPr/>
        </p:nvSpPr>
        <p:spPr>
          <a:xfrm>
            <a:off x="-2631758" y="-3582698"/>
            <a:ext cx="5029200" cy="5029200"/>
          </a:xfrm>
          <a:prstGeom prst="ellipse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1">
            <a:extLst>
              <a:ext uri="{FF2B5EF4-FFF2-40B4-BE49-F238E27FC236}">
                <a16:creationId xmlns:a16="http://schemas.microsoft.com/office/drawing/2014/main" id="{476C0E39-C442-3FE3-0AA3-895765F556C4}"/>
              </a:ext>
            </a:extLst>
          </p:cNvPr>
          <p:cNvSpPr/>
          <p:nvPr/>
        </p:nvSpPr>
        <p:spPr>
          <a:xfrm>
            <a:off x="7984998" y="3936040"/>
            <a:ext cx="2011680" cy="2011680"/>
          </a:xfrm>
          <a:prstGeom prst="ellipse">
            <a:avLst/>
          </a:prstGeom>
          <a:solidFill>
            <a:srgbClr val="071828"/>
          </a:solidFill>
          <a:ln w="12700">
            <a:solidFill>
              <a:srgbClr val="07182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3" name="Text 5">
            <a:extLst>
              <a:ext uri="{FF2B5EF4-FFF2-40B4-BE49-F238E27FC236}">
                <a16:creationId xmlns:a16="http://schemas.microsoft.com/office/drawing/2014/main" id="{02008BF5-1DBB-DEFF-FFE8-6FA11732F41B}"/>
              </a:ext>
            </a:extLst>
          </p:cNvPr>
          <p:cNvSpPr/>
          <p:nvPr/>
        </p:nvSpPr>
        <p:spPr>
          <a:xfrm>
            <a:off x="457200" y="225975"/>
            <a:ext cx="8465820" cy="1426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Through this project, I was able to identify the real drivers of attrition, isolate a 39-person high-risk segment hiding inside a "safe" department, and translate the findings into a $13.9M business case.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514A0BE-3B89-62C9-0EF9-44262AF93FD6}"/>
              </a:ext>
            </a:extLst>
          </p:cNvPr>
          <p:cNvSpPr txBox="1"/>
          <p:nvPr/>
        </p:nvSpPr>
        <p:spPr>
          <a:xfrm>
            <a:off x="2397443" y="2743129"/>
            <a:ext cx="45824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718DA8"/>
                </a:solidFill>
              </a:rPr>
              <a:t>I hope the data told a story worth reading.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320</TotalTime>
  <Words>1310</Words>
  <Application>Microsoft Office PowerPoint</Application>
  <PresentationFormat>On-screen Show (16:9)</PresentationFormat>
  <Paragraphs>158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HR Attrition · Workforce Intelligence</dc:title>
  <dc:subject>PptxGenJS Presentation</dc:subject>
  <dc:creator>PptxGenJS</dc:creator>
  <cp:lastModifiedBy>Ahmed Elhofy</cp:lastModifiedBy>
  <cp:revision>2</cp:revision>
  <dcterms:created xsi:type="dcterms:W3CDTF">2026-06-18T23:52:49Z</dcterms:created>
  <dcterms:modified xsi:type="dcterms:W3CDTF">2026-06-20T09:23:03Z</dcterms:modified>
</cp:coreProperties>
</file>